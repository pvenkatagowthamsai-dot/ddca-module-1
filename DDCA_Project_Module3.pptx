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82880"/>
            <a:ext cx="0" cy="1828800"/>
          </a:xfrm>
          <a:prstGeom prst="line">
            <a:avLst/>
          </a:prstGeom>
          <a:noFill/>
          <a:ln w="19050">
            <a:solidFill>
              <a:srgbClr val="1B2A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1280160"/>
            <a:ext cx="2194560" cy="0"/>
          </a:xfrm>
          <a:prstGeom prst="line">
            <a:avLst/>
          </a:prstGeom>
          <a:noFill/>
          <a:ln w="19050">
            <a:solidFill>
              <a:srgbClr val="1B2A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182880"/>
            <a:ext cx="0" cy="1097280"/>
          </a:xfrm>
          <a:prstGeom prst="line">
            <a:avLst/>
          </a:prstGeom>
          <a:noFill/>
          <a:ln w="19050">
            <a:solidFill>
              <a:srgbClr val="1B2A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2011680"/>
            <a:ext cx="3383280" cy="0"/>
          </a:xfrm>
          <a:prstGeom prst="line">
            <a:avLst/>
          </a:prstGeom>
          <a:noFill/>
          <a:ln w="19050">
            <a:solidFill>
              <a:srgbClr val="1B2A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8120" y="1234440"/>
            <a:ext cx="91440" cy="9144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" name="Shape 5"/>
          <p:cNvSpPr/>
          <p:nvPr/>
        </p:nvSpPr>
        <p:spPr>
          <a:xfrm>
            <a:off x="10012680" y="1234440"/>
            <a:ext cx="91440" cy="9144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8" name="Shape 6"/>
          <p:cNvSpPr/>
          <p:nvPr/>
        </p:nvSpPr>
        <p:spPr>
          <a:xfrm>
            <a:off x="8732520" y="1965960"/>
            <a:ext cx="91440" cy="9144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9" name="Shape 7"/>
          <p:cNvSpPr/>
          <p:nvPr/>
        </p:nvSpPr>
        <p:spPr>
          <a:xfrm>
            <a:off x="12115800" y="1965960"/>
            <a:ext cx="91440" cy="9144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0" name="Shape 8"/>
          <p:cNvSpPr/>
          <p:nvPr/>
        </p:nvSpPr>
        <p:spPr>
          <a:xfrm>
            <a:off x="10012680" y="137160"/>
            <a:ext cx="91440" cy="9144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685800"/>
            <a:ext cx="3063240" cy="384048"/>
          </a:xfrm>
          <a:prstGeom prst="roundRect">
            <a:avLst>
              <a:gd name="adj" fmla="val 50000"/>
            </a:avLst>
          </a:prstGeom>
          <a:solidFill>
            <a:srgbClr val="1824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6858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· BATCH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49040" y="68580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9B8C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49040" y="6858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14630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of a Four-Bit Binary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Decimal Conversion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063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Basics: Sequential Logic — Giving the Machine Memory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0332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look at how registers, counters and flip-flops — the memory elements our converter itself doesn't need — can still be used around it to hold its input and test it automatically.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B3A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64190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·  BATCH 2  ·  MODULE 3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17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Uses From Module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8244A"/>
          </a:solidFill>
          <a:ln w="9525">
            <a:solidFill>
              <a:srgbClr val="2B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476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B8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659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of flip-flops that could hold our 4-bit input steady before decoding.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8244A"/>
          </a:solidFill>
          <a:ln w="9525">
            <a:solidFill>
              <a:srgbClr val="2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9476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B8C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9659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6517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way to automatically cycle through all 16 inputs to test our decoder.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8244A"/>
          </a:solidFill>
          <a:ln w="9525">
            <a:solidFill>
              <a:srgbClr val="2B3A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336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B8C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2519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&amp; timing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377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of a clock edge, so stored values change at a known, reliable moment.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8244A"/>
          </a:solidFill>
          <a:ln w="9525">
            <a:solidFill>
              <a:srgbClr val="2B3A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2336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9B8C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42519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FSMs (just the idea)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9377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decoder itself doesn't need one — but we see where it would fit in a bigger system.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B3A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64190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·  BATCH 2  ·  MODULE 3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IMPORTANT DISTINCTION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Converter Is Combinational — Here's the Contrast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18244A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COMBINATIONAL  (our converter)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4800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depends only on the current input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clock, no memory, no “state”</a:t>
            </a:r>
            <a:endParaRPr lang="en-US" sz="1350" dirty="0"/>
          </a:p>
          <a:p>
            <a:pPr marL="342900" indent="-342900">
              <a:lnSpc>
                <a:spcPts val="1900"/>
              </a:lnSpc>
              <a:buSzPct val="100000"/>
              <a:buChar char="▪"/>
            </a:pPr>
            <a:r>
              <a:rPr lang="en-US" sz="13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gates: NOT, AND, OR …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18244A"/>
          </a:solidFill>
          <a:ln w="15875">
            <a:solidFill>
              <a:srgbClr val="9B8C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0574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 (this module)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606040"/>
            <a:ext cx="4800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depends on current input AND what was stored before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clock to know exactly when to update</a:t>
            </a:r>
            <a:endParaRPr lang="en-US" sz="1350" dirty="0"/>
          </a:p>
          <a:p>
            <a:pPr marL="342900" indent="-342900">
              <a:lnSpc>
                <a:spcPts val="1900"/>
              </a:lnSpc>
              <a:buSzPct val="100000"/>
              <a:buChar char="▪"/>
            </a:pPr>
            <a:r>
              <a:rPr lang="en-US" sz="13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latches, flip-flops and registers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B3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64190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·  BATCH 2  ·  MODULE 3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MEMORY ELEMENTS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Latches &amp; Flip-Flops: The Basics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18244A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03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 Latch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memory cell — Set makes it 1, Reset makes it 0, and it holds that value otherwise.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87452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18244A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2103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Latch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65176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whatever is on its D input, but only while a control signal is “open” (level-sensitive).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87452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18244A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6760" y="2103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Flip-Flop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65176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D input at the exact instant the clock ticks (edge-triggered) — the building block of registers.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983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Level-sensitive (latch) reacts whenever the control signal is high; edge-triggered (flip-flop) reacts only at the instant the clock changes — flip-flops are what real registers use.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B3A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64190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·  BATCH 2  ·  MODULE 3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TIME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Clock &amp; Synchronous Design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1064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clock signal ticks at a steady rate, so every flip-flop in a circuit updates at the same, predictable moment.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“synchronous” design is what makes large digital systems reliable — everything changes in step, rather than drifting out of sync.</a:t>
            </a:r>
            <a:endParaRPr lang="en-US" sz="1500" dirty="0"/>
          </a:p>
          <a:p>
            <a:pPr marL="342900" indent="-342900">
              <a:lnSpc>
                <a:spcPts val="2100"/>
              </a:lnSpc>
              <a:buSzPct val="100000"/>
              <a:buChar char="▪"/>
            </a:pPr>
            <a:r>
              <a:rPr lang="en-US" sz="15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and hold time (just the intuition): each flip-flop's input needs to be stable for a brief moment just before and just after the clock edge, or its stored value can't be trusted.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B3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4190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·  BATCH 2  ·  MODULE 3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ELEMENTS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Registers: Holding Our 4-Bit Input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register is just 4 D flip-flops side by side, one per bit — enough to store one 4-bit value at a time.</a:t>
            </a:r>
            <a:endParaRPr lang="en-US" sz="1450" dirty="0"/>
          </a:p>
          <a:p>
            <a:pPr marL="342900" indent="-342900">
              <a:lnSpc>
                <a:spcPts val="1900"/>
              </a:lnSpc>
              <a:buSzPct val="100000"/>
              <a:buChar char="▪"/>
            </a:pPr>
            <a:r>
              <a:rPr lang="en-US" sz="14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decoder itself has no memory, but in a real system its input would usually come from a register, so the value stays steady while the decoder reads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18244A"/>
          </a:solidFill>
          <a:ln w="15875">
            <a:solidFill>
              <a:srgbClr val="9B8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6576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9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36576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18244A"/>
          </a:solidFill>
          <a:ln w="15875">
            <a:solidFill>
              <a:srgbClr val="9B8C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36576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9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4-BIT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9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36576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18244A"/>
          </a:solidFill>
          <a:ln w="15875">
            <a:solidFill>
              <a:srgbClr val="9B8C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36576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9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9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365760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18244A"/>
          </a:solidFill>
          <a:ln w="15875">
            <a:solidFill>
              <a:srgbClr val="9B8C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0" y="36576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9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Y0–Y15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65960" y="4069080"/>
            <a:ext cx="274320" cy="182880"/>
          </a:xfrm>
          <a:prstGeom prst="rightArrow">
            <a:avLst/>
          </a:prstGeom>
          <a:solidFill>
            <a:srgbClr val="8792B5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4069080"/>
            <a:ext cx="548640" cy="182880"/>
          </a:xfrm>
          <a:prstGeom prst="rightArrow">
            <a:avLst/>
          </a:prstGeom>
          <a:solidFill>
            <a:srgbClr val="8792B5"/>
          </a:solidFill>
          <a:ln/>
        </p:spPr>
      </p:sp>
      <p:sp>
        <p:nvSpPr>
          <p:cNvPr id="15" name="Shape 13"/>
          <p:cNvSpPr/>
          <p:nvPr/>
        </p:nvSpPr>
        <p:spPr>
          <a:xfrm>
            <a:off x="6995160" y="4069080"/>
            <a:ext cx="548640" cy="182880"/>
          </a:xfrm>
          <a:prstGeom prst="rightArrow">
            <a:avLst/>
          </a:prstGeom>
          <a:solidFill>
            <a:srgbClr val="8792B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9377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tells the register exactly when to latch a new value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B3A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64190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·  BATCH 2  ·  MODULE 3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 RELATIVE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Registers (Brief)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shift register is a chain of flip-flops where, on every clock tick, each bit moves into its neighbour — the whole value shifts left or right by one position.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useful for turning a stream of single bits into a parallel value (or back again) — for example, receiving a 4-bit number one bit at a time over a single wire, then reading all 4 bits at once.</a:t>
            </a:r>
            <a:endParaRPr lang="en-US" sz="1450" dirty="0"/>
          </a:p>
          <a:p>
            <a:pPr marL="342900" indent="-342900">
              <a:lnSpc>
                <a:spcPts val="2000"/>
              </a:lnSpc>
              <a:buSzPct val="100000"/>
              <a:buChar char="▪"/>
            </a:pPr>
            <a:r>
              <a:rPr lang="en-US" sz="14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doesn't need one: the 4-bit input to our decoder already arrives as 4 bits side by side, so there's nothing to shift in or out.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B3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4190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·  BATCH 2  ·  MODULE 3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USE CASE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Counters: Auto-Testing Our Decoder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synchronous counter is a register that adds 1 to itself on every clock tick — the same pattern used for a CPU's program counter, which tracks “which instruction is next.”</a:t>
            </a:r>
            <a:endParaRPr lang="en-US" sz="1450" dirty="0"/>
          </a:p>
          <a:p>
            <a:pPr marL="342900" indent="-342900">
              <a:lnSpc>
                <a:spcPts val="1900"/>
              </a:lnSpc>
              <a:buSzPct val="100000"/>
              <a:buChar char="▪"/>
            </a:pPr>
            <a:r>
              <a:rPr lang="en-US" sz="14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our project, a 4-bit counter is a natural testbench: let it count 0000 → 1111 automatically, feed each value into our decoder, and watch Y0 through Y15 light up in order.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9B8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6576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C12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CLOCK →  4-bit counter: 0000, 0001, 0010, …, 1111  →  our decoder  →  Y0, Y1, Y2, …, Y15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B3A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64190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·  BATCH 2  ·  MODULE 3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Finite State Machines — Not Needed Here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1064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FSM describes step-by-step behaviour using states and transitions — it's the technique behind a control unit.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decoder has no steps to follow: it just reads 4 bits and lights one output, all in one go — there's no “next state” to transition to.</a:t>
            </a:r>
            <a:endParaRPr lang="en-US" sz="1500" dirty="0"/>
          </a:p>
          <a:p>
            <a:pPr marL="342900" indent="-342900">
              <a:lnSpc>
                <a:spcPts val="2100"/>
              </a:lnSpc>
              <a:buSzPct val="100000"/>
              <a:buChar char="▪"/>
            </a:pPr>
            <a:r>
              <a:rPr lang="en-US" sz="15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FSMs matter for this module because a real control unit — deciding what a CPU does next, instruction by instruction — is exactly this kind of step-by-step machine.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B3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4190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·  BATCH 2  ·  MODULE 3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SPEC TO STATES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a Small FSM: A Test Controller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 — an FSM that could drive the counter testbench from Slide 8.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18244A"/>
          </a:solidFill>
          <a:ln w="15875">
            <a:solidFill>
              <a:srgbClr val="8792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57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792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IDLE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a start signal. Counter is held at 0000.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96512" y="3090672"/>
            <a:ext cx="256032" cy="219456"/>
          </a:xfrm>
          <a:prstGeom prst="rightArrow">
            <a:avLst/>
          </a:prstGeom>
          <a:solidFill>
            <a:srgbClr val="8792B5"/>
          </a:solidFill>
          <a:ln/>
        </p:spPr>
      </p:sp>
      <p:sp>
        <p:nvSpPr>
          <p:cNvPr id="9" name="Shape 7"/>
          <p:cNvSpPr/>
          <p:nvPr/>
        </p:nvSpPr>
        <p:spPr>
          <a:xfrm>
            <a:off x="4343400" y="18288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18244A"/>
          </a:solidFill>
          <a:ln w="15875">
            <a:solidFill>
              <a:srgbClr val="9B8C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057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60604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increments every clock tick, feeding our decoder.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891272" y="3090672"/>
            <a:ext cx="256032" cy="219456"/>
          </a:xfrm>
          <a:prstGeom prst="rightArrow">
            <a:avLst/>
          </a:prstGeom>
          <a:solidFill>
            <a:srgbClr val="8792B5"/>
          </a:solidFill>
          <a:ln/>
        </p:spPr>
      </p:sp>
      <p:sp>
        <p:nvSpPr>
          <p:cNvPr id="13" name="Shape 11"/>
          <p:cNvSpPr/>
          <p:nvPr/>
        </p:nvSpPr>
        <p:spPr>
          <a:xfrm>
            <a:off x="8138160" y="18288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18244A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66760" y="2057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60604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reached 1111; all 16 outputs have been tested.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→ states and transitions → flip-flops to hold the current state → logic to decide the next state. This is the exact same disciplined flow used for a real CPU control unit.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B3A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64190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·  BATCH 2  ·  MODULE 3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DIAGRAM TO TABLE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 Controller as a State Table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IDLE → RUN → DONE machine, written the way an FSM is usually implemented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320040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  <a:gridCol w="2103120"/>
                <a:gridCol w="4480560"/>
              </a:tblGrid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8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/ Condition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8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State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8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8C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B8C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IDLE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6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 = 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DDC9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RUN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RegWrite counter ← 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4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B8C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IDLE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6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 = 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DDC9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IDLE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— no 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B8C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RUN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6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count &lt; 1111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DDC9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RUN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 ← counter + 1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4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B8C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RUN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6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count = 1111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DDC9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DONE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incrementing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D3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B8C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DONE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6F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DDC9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DONE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9D6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— test finished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44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table is just the state diagram's arrows written as rows — both describe the exact same machine; the table is what you'd hand to a flip-flop-and-gate implementation.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B3A6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64190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·  BATCH 2  ·  MODULE 3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DELIVERABLE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Milestone: Register, Counter &amp; a Small FSM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18244A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03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4-bit register built and tested in the simulator, holding one steady value.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8745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18244A"/>
          </a:solidFill>
          <a:ln w="15875">
            <a:solidFill>
              <a:srgbClr val="9B8C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2103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6517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synchronous counter cycling 0000 through 1111 on its own, clock tick by clock tick.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8745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18244A"/>
          </a:solidFill>
          <a:ln w="15875">
            <a:solidFill>
              <a:srgbClr val="5AA9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6760" y="2103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A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FSM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6517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IDLE → RUN → DONE controller from the previous slides, built from flip-flops and logic.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846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three pieces are the CPU's “memory-and-stepping fabric” — and, for this project, a complete automatic test rig for our decoder.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B3A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64190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·  BATCH 2  ·  MODULE 3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BOTH WORLDS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8244A"/>
          </a:solidFill>
          <a:ln w="15875">
            <a:solidFill>
              <a:srgbClr val="9B8C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part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+ counter (or register) — remembers a value and steps it forward in time.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8244A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0574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Combinational part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0604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decoder — instantly turns whatever 4 bits it's given into one lit output.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51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 systems are exactly this mix: sequential elements that remember and step through time, driving combinational logic that reacts instantly — which is also how a full CPU works.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B3A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64190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·  BATCH 2  ·  MODULE 3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DETAIL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Resetting a Register: Sync vs Async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register or counter needs a known starting value — this is how it gets 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3108960"/>
          </a:xfrm>
          <a:prstGeom prst="roundRect">
            <a:avLst>
              <a:gd name="adj" fmla="val 2353"/>
            </a:avLst>
          </a:prstGeom>
          <a:solidFill>
            <a:srgbClr val="18244A"/>
          </a:solidFill>
          <a:ln w="15875">
            <a:solidFill>
              <a:srgbClr val="5AA9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A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SYNCHRONOUS RESET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reset signal is only obeyed on the next clock edge — it waits its turn like any other input, which keeps every flip-flop changing in step.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404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counter would use this: on the IDLE → RUN transition, it's told “counter ← 0000” as an ordinary clocked update.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349240" cy="3108960"/>
          </a:xfrm>
          <a:prstGeom prst="roundRect">
            <a:avLst>
              <a:gd name="adj" fmla="val 2353"/>
            </a:avLst>
          </a:prstGeom>
          <a:solidFill>
            <a:srgbClr val="18244A"/>
          </a:solidFill>
          <a:ln w="15875">
            <a:solidFill>
              <a:srgbClr val="9B8C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2103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ASYNCHRONOUS RESET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6060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reset signal clears the flip-flop immediately, regardless of the clock — useful for forcing a known state the instant power turns on.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8404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react, but it can ignore the clock entirely — which is why most classroom designs prefer the synchronous version.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B3A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64190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·  BATCH 2  ·  MODULE 3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AID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Quick Reference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8244A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933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Latch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cell that reacts whenever its control signal is high.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8244A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9933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Flip-flop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3774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cell that reacts only at a clock edge.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8288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8244A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6760" y="19933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3774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flip-flops storing one multi-bit value.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8244A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6850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Clock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0690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steady signal that tells every flip-flop exactly when to update.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35204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8244A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0" y="36850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0690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register that adds 1 to itself every clock tick.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35204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8244A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66760" y="36850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FSM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40690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+ transitions describing step-by-step behaviour.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B3A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64190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·  BATCH 2  ·  MODULE 3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3 Takeaways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11064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converter is purely combinational — it has no memory, which is exactly what sets it apart from everything in this module.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Latches and flip-flops are the basic memory cells; registers are just several flip-flops storing one multi-bit value, like our 4-bit input.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counter is a register that increments itself every clock tick — a natural way to automatically test all 16 inputs of our decoder.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800"/>
              </a:spcAft>
              <a:buSzPct val="100000"/>
              <a:buChar char="▪"/>
            </a:pPr>
            <a:r>
              <a:rPr lang="en-US" sz="16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FSMs aren't needed for our one-step decoder, but they're exactly the tool — and a state table is exactly the format — for a real control unit later in the course.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B3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4190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·  BATCH 2  ·  MODULE 3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48640"/>
            <a:ext cx="2377440" cy="0"/>
          </a:xfrm>
          <a:prstGeom prst="line">
            <a:avLst/>
          </a:prstGeom>
          <a:noFill/>
          <a:ln w="19050">
            <a:solidFill>
              <a:srgbClr val="1B2A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548640"/>
            <a:ext cx="0" cy="1280160"/>
          </a:xfrm>
          <a:prstGeom prst="line">
            <a:avLst/>
          </a:prstGeom>
          <a:noFill/>
          <a:ln w="19050">
            <a:solidFill>
              <a:srgbClr val="1B2A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5852160"/>
            <a:ext cx="2377440" cy="0"/>
          </a:xfrm>
          <a:prstGeom prst="line">
            <a:avLst/>
          </a:prstGeom>
          <a:noFill/>
          <a:ln w="19050">
            <a:solidFill>
              <a:srgbClr val="1B2A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4572000"/>
            <a:ext cx="0" cy="1280160"/>
          </a:xfrm>
          <a:prstGeom prst="line">
            <a:avLst/>
          </a:prstGeom>
          <a:noFill/>
          <a:ln w="19050">
            <a:solidFill>
              <a:srgbClr val="1B2A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502920"/>
            <a:ext cx="91440" cy="9144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" name="Shape 5"/>
          <p:cNvSpPr/>
          <p:nvPr/>
        </p:nvSpPr>
        <p:spPr>
          <a:xfrm>
            <a:off x="3246120" y="502920"/>
            <a:ext cx="91440" cy="9144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8" name="Shape 6"/>
          <p:cNvSpPr/>
          <p:nvPr/>
        </p:nvSpPr>
        <p:spPr>
          <a:xfrm>
            <a:off x="10652760" y="5806440"/>
            <a:ext cx="91440" cy="9144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9" name="Shape 7"/>
          <p:cNvSpPr/>
          <p:nvPr/>
        </p:nvSpPr>
        <p:spPr>
          <a:xfrm>
            <a:off x="8275320" y="5806440"/>
            <a:ext cx="91440" cy="9144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0" name="Shape 8"/>
          <p:cNvSpPr/>
          <p:nvPr/>
        </p:nvSpPr>
        <p:spPr>
          <a:xfrm>
            <a:off x="10652760" y="4526280"/>
            <a:ext cx="91440" cy="9144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0" y="265176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5074920" y="3611880"/>
            <a:ext cx="2011680" cy="0"/>
          </a:xfrm>
          <a:prstGeom prst="line">
            <a:avLst/>
          </a:prstGeom>
          <a:noFill/>
          <a:ln w="38100">
            <a:solidFill>
              <a:srgbClr val="3DDC9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0" y="39319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of a Four-Bit Binary to Decimal Conversion — Module 3 Basics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B3A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64190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·  BATCH 2  ·  MODULE 3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7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2026-10-04T13:25:50Z</dcterms:created>
  <dcterms:modified xsi:type="dcterms:W3CDTF">2026-10-04T13:25:50Z</dcterms:modified>
</cp:coreProperties>
</file>